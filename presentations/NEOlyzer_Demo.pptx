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NEOlyzer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4A6FA5"/>
                </a:solidFill>
              </a:defRPr>
            </a:pPr>
            <a:r>
              <a:t>A New Visualization Tool for Near-Earth Objects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84048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Rob Seaman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4A6FA5"/>
                </a:solidFill>
              </a:defRPr>
            </a:pPr>
            <a:r>
              <a:t>Catalina Sky Survey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9496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Claude (Anthropic)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4A6FA5"/>
                </a:solidFill>
              </a:defRPr>
            </a:pPr>
            <a:r>
              <a:t>AI Implementation Partner</a:t>
            </a:r>
          </a:p>
        </p:txBody>
      </p:sp>
      <p:sp>
        <p:nvSpPr>
          <p:cNvPr id="9" name="Oval 8"/>
          <p:cNvSpPr/>
          <p:nvPr/>
        </p:nvSpPr>
        <p:spPr>
          <a:xfrm>
            <a:off x="973836" y="4087368"/>
            <a:ext cx="2313432" cy="231343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SS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" y="4238244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E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How This Presentation Was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100584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i="1">
                <a:solidFill>
                  <a:srgbClr val="FFFFFF"/>
                </a:solidFill>
              </a:defRPr>
            </a:pPr>
            <a:r>
              <a:t>Good morning. It's been a few days since I worked on this. I need to create</a:t>
            </a:r>
            <a:br/>
            <a:r>
              <a:t>a demo of NEOlyzer. Perhaps you can remind me - and yourself - of its high</a:t>
            </a:r>
            <a:br/>
            <a:r>
              <a:t>points. Hmm. For that matter, I have both Powerpoint and Keynote on this</a:t>
            </a:r>
            <a:br/>
            <a:r>
              <a:t>computer. Can you directly create a presentation while I kibitz?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38912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4A6FA5"/>
                </a:solidFill>
              </a:defRPr>
            </a:pPr>
            <a:r>
              <a:t>This presentation was generated by Claude Code from a conversational prompt.</a:t>
            </a:r>
            <a:br/>
            <a:br/>
            <a:r>
              <a:t>NEOlyzer itself was developed through AI-assisted programming,</a:t>
            </a:r>
            <a:br/>
            <a:r>
              <a:t>achieving a Minimum Viable Product in under 2 weeks.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What is NEOlyzer?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  Interactive visualization of the Near-Earth Object catalog</a:t>
            </a:r>
          </a:p>
          <a:p>
            <a:pPr>
              <a:defRPr sz="2800">
                <a:solidFill>
                  <a:srgbClr val="FFFFFF"/>
                </a:solidFill>
              </a:defRPr>
            </a:pPr>
            <a:r>
              <a:t>  Supports Planetary Defense research and observation planning</a:t>
            </a:r>
          </a:p>
          <a:p>
            <a:pPr>
              <a:defRPr sz="2800">
                <a:solidFill>
                  <a:srgbClr val="FFFFFF"/>
                </a:solidFill>
              </a:defRPr>
            </a:pPr>
            <a:r>
              <a:t>  Displays 40,000+ NEOs with smooth real-time animation</a:t>
            </a:r>
          </a:p>
          <a:p>
            <a:pPr>
              <a:defRPr sz="2800">
                <a:solidFill>
                  <a:srgbClr val="FFFFFF"/>
                </a:solidFill>
              </a:defRPr>
            </a:pPr>
            <a:r>
              <a:t>  Time range spanning 1550-2650 (using JPL DE440 ephemeris)</a:t>
            </a:r>
          </a:p>
          <a:p>
            <a:pPr>
              <a:defRPr sz="2800">
                <a:solidFill>
                  <a:srgbClr val="FFFFFF"/>
                </a:solidFill>
              </a:defRPr>
            </a:pPr>
            <a:r>
              <a:t>  Cross-platform: macOS, Linux, Windows (via WSL)</a:t>
            </a:r>
          </a:p>
          <a:p>
            <a:pPr>
              <a:defRPr sz="2800">
                <a:solidFill>
                  <a:srgbClr val="FFFFFF"/>
                </a:solidFill>
              </a:defRPr>
            </a:pPr>
            <a:r>
              <a:t>  Built with Python, PyQt6, matplotlib, Skyfield, SQLite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Core Visualization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Map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Rectangular (RA/Dec grid)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Hammer (equal-area)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Aitoff (azimuthal)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Mollweide (pseudo-cylindrical)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Coordinate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Equatorial (standard obs)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Ecliptic (orbital reference)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Galactic coordinates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Opposition-centered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Real-Time Animation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6344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4A6FA5"/>
                </a:solidFill>
              </a:defRPr>
            </a:pPr>
            <a:r>
              <a:t>Variable playback rates (hours/days/months per second)  |  Forward and backward playback  |  ~10 FPS with 40,000+ objects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Multi-Dimensional Data Encoding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Color Encodes: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V Magnitude (visual brightness)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H Magnitude (intrinsic brightness)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CNEOS Discovery Site (observatory)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Size Encodes: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V or H Magnitude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Distance from Earth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Earth MOID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Orbital Period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Eccentricity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319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Filtering Options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8056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Dual magnitude limits (V and H, min and max)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NEO orbital classes (Atira, Aten, Apollo, Amor)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Earth MOID range filter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Hide objects before discovery date (lunation-based)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Built-In Analysis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  MOID vs H Magnitude - Visualize Potentially Hazardous Asteroids</a:t>
            </a:r>
          </a:p>
          <a:p>
            <a:pPr>
              <a:defRPr sz="2600">
                <a:solidFill>
                  <a:srgbClr val="FFFFFF"/>
                </a:solidFill>
              </a:defRPr>
            </a:pPr>
            <a:r>
              <a:t>  NEO Discovery Timeline - Catalog growth through history</a:t>
            </a:r>
          </a:p>
          <a:p>
            <a:pPr>
              <a:defRPr sz="2600">
                <a:solidFill>
                  <a:srgbClr val="FFFFFF"/>
                </a:solidFill>
              </a:defRPr>
            </a:pPr>
            <a:r>
              <a:t>  Solar Elongation vs Distance - Observability planning</a:t>
            </a:r>
          </a:p>
          <a:p>
            <a:pPr>
              <a:defRPr sz="2600">
                <a:solidFill>
                  <a:srgbClr val="FFFFFF"/>
                </a:solidFill>
              </a:defRPr>
            </a:pPr>
            <a:r>
              <a:t>  Orbital Element Space (a vs e) - Classification view</a:t>
            </a:r>
          </a:p>
          <a:p>
            <a:pPr>
              <a:defRPr sz="2600">
                <a:solidFill>
                  <a:srgbClr val="FFFFFF"/>
                </a:solidFill>
              </a:defRPr>
            </a:pPr>
            <a:r>
              <a:t>  Lunar Phases Calendar - CLN tracking for observation scheduling</a:t>
            </a:r>
          </a:p>
          <a:p>
            <a:pPr>
              <a:defRPr sz="2600">
                <a:solidFill>
                  <a:srgbClr val="FFFFFF"/>
                </a:solidFill>
              </a:defRPr>
            </a:pPr>
            <a:r>
              <a:t>  Heliocentric Polar Chart - Sun-centered ecliptic 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Advanced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Astronomical Overlays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IAU constellation boundaries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Hipparcos bright star catalog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Ecliptic and Galactic planes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Observer horizon &amp; twilight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Catalog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FFFFFF"/>
                </a:solidFill>
              </a:defRPr>
            </a:pPr>
            <a:r>
              <a:t>  Load alternate catalog versions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Blink between catalogs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View new/deleted/changed objects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  Pre-computed position cache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C107"/>
                </a:solidFill>
              </a:defRPr>
            </a:pPr>
            <a:r>
              <a:t>Interactive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66344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4A6FA5"/>
                </a:solidFill>
              </a:defRPr>
            </a:pPr>
            <a:r>
              <a:t>Click any NEO for detailed orbital elements and discovery info  |  Shift+Click for constellation ID  |  Sortable data tables with CSV export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Performance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  HDF5 position cache with variable precision tiers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   - High precision (daily) for current year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   - Medium precision (weekly) for ±5 years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   - Low precision (monthly) for extended range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~10 FPS sustained for 40,000+ objects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Magnitude hysteresis reduces visual twinkling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Efficient LineCollection for boundary rendering</a:t>
            </a:r>
          </a:p>
          <a:p>
            <a:pPr>
              <a:defRPr sz="2400">
                <a:solidFill>
                  <a:srgbClr val="FFFFFF"/>
                </a:solidFill>
              </a:defRPr>
            </a:pPr>
            <a:r>
              <a:t>  SQLite database via SQLAlchemy 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3E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Live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10896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>
                <a:solidFill>
                  <a:srgbClr val="4A6FA5"/>
                </a:solidFill>
              </a:defRPr>
            </a:pPr>
            <a:r>
              <a:t>Animation  |  Projections  |  Filtering  |  Analysis Charts  |  Catalog Blinking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Future Directions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914400"/>
            <a:ext cx="4876495" cy="508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>
                <a:solidFill>
                  <a:srgbClr val="FFFFFF"/>
                </a:solidFill>
              </a:defRPr>
            </a:pPr>
            <a:r>
              <a:t>  Performance optimization for 100,000+ NEOs (catalog growing rapidly)</a:t>
            </a:r>
          </a:p>
          <a:p>
            <a:pPr>
              <a:defRPr sz="2600">
                <a:solidFill>
                  <a:srgbClr val="FFFFFF"/>
                </a:solidFill>
              </a:defRPr>
            </a:pPr>
            <a:r>
              <a:t>  Database schema normalization as features expand</a:t>
            </a:r>
          </a:p>
          <a:p>
            <a:pPr>
              <a:defRPr sz="2600">
                <a:solidFill>
                  <a:srgbClr val="FFFFFF"/>
                </a:solidFill>
              </a:defRPr>
            </a:pPr>
            <a:r>
              <a:t>  Additional observational planning modes</a:t>
            </a:r>
          </a:p>
          <a:p>
            <a:pPr>
              <a:defRPr sz="2600">
                <a:solidFill>
                  <a:srgbClr val="FFFFFF"/>
                </a:solidFill>
              </a:defRPr>
            </a:pPr>
            <a:r>
              <a:t>  Enhanced scripted playback for demonstrations</a:t>
            </a:r>
          </a:p>
          <a:p>
            <a:pPr>
              <a:defRPr sz="2600">
                <a:solidFill>
                  <a:srgbClr val="FFFFFF"/>
                </a:solidFill>
              </a:defRPr>
            </a:pPr>
            <a:r>
              <a:t>  Community feedback and feature requests welcome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75488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C107"/>
                </a:solidFill>
              </a:defRPr>
            </a:pPr>
            <a:r>
              <a:t>Contact: rseaman@arizona.edu</a:t>
            </a:r>
          </a:p>
        </p:txBody>
      </p:sp>
      <p:sp>
        <p:nvSpPr>
          <p:cNvPr id="6" name="Oval 5"/>
          <p:cNvSpPr/>
          <p:nvPr/>
        </p:nvSpPr>
        <p:spPr>
          <a:xfrm>
            <a:off x="9111996" y="4082796"/>
            <a:ext cx="1892807" cy="189280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SS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20624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