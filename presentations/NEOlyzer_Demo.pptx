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NEOlyzer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8AB4D9"/>
                </a:solidFill>
              </a:defRPr>
            </a:pPr>
            <a:r>
              <a:t>A New Visualization Tool for Near-Earth Objects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840480"/>
            <a:ext cx="4876495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Rob Seaman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AB4D9"/>
                </a:solidFill>
              </a:defRPr>
            </a:pPr>
            <a:r>
              <a:t>Catalina Sky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949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Claude (Anthropic)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AB4D9"/>
                </a:solidFill>
              </a:defRPr>
            </a:pPr>
            <a:r>
              <a:t>AI Implementation Partner</a:t>
            </a:r>
          </a:p>
        </p:txBody>
      </p:sp>
      <p:sp>
        <p:nvSpPr>
          <p:cNvPr id="9" name="Oval 8"/>
          <p:cNvSpPr/>
          <p:nvPr/>
        </p:nvSpPr>
        <p:spPr>
          <a:xfrm>
            <a:off x="973836" y="4087368"/>
            <a:ext cx="2313432" cy="23134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SS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4238244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E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How This Presentation Was Made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005840"/>
            <a:ext cx="4876495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i="1">
                <a:solidFill>
                  <a:srgbClr val="FFFFFF"/>
                </a:solidFill>
              </a:defRPr>
            </a:pPr>
            <a:r>
              <a:t>Good morning. It's been a few days since I worked on this. I need to create</a:t>
            </a:r>
            <a:br/>
            <a:r>
              <a:t>a demo of NEOlyzer. Perhaps you can remind me - and yourself - of its high</a:t>
            </a:r>
            <a:br/>
            <a:r>
              <a:t>points. Hmm. For that matter, I have both Powerpoint and Keynote on this</a:t>
            </a:r>
            <a:br/>
            <a:r>
              <a:t>computer. Can you directly create a presentation while I kibitz?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891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8AB4D9"/>
                </a:solidFill>
              </a:defRPr>
            </a:pPr>
            <a:r>
              <a:t>This presentation was generated by Claude Code from a conversational prompt.</a:t>
            </a:r>
            <a:br/>
            <a:br/>
            <a:r>
              <a:t>NEOlyzer itself was developed through AI-assisted programming, achieving</a:t>
            </a:r>
            <a:br/>
            <a:r>
              <a:t>a Minimum Viable Product in a few days. Total effort was about two weeks.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What is NEOlyzer?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914400"/>
            <a:ext cx="4876495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800">
                <a:solidFill>
                  <a:srgbClr val="FFFFFF"/>
                </a:solidFill>
              </a:defRPr>
            </a:pPr>
            <a:r>
              <a:t>  Interactive visualization of the Near-Earth Object catalog</a:t>
            </a:r>
          </a:p>
          <a:p>
            <a:pPr>
              <a:lnSpc>
                <a:spcPct val="150000"/>
              </a:lnSpc>
              <a:defRPr sz="2800">
                <a:solidFill>
                  <a:srgbClr val="FFFFFF"/>
                </a:solidFill>
              </a:defRPr>
            </a:pPr>
            <a:r>
              <a:t>  Displays 40,000+ NEOs with smooth real-time animation</a:t>
            </a:r>
          </a:p>
          <a:p>
            <a:pPr>
              <a:lnSpc>
                <a:spcPct val="150000"/>
              </a:lnSpc>
              <a:defRPr sz="2800">
                <a:solidFill>
                  <a:srgbClr val="FFFFFF"/>
                </a:solidFill>
              </a:defRPr>
            </a:pPr>
            <a:r>
              <a:t>  Time range spanning 1550-2650 (using JPL DE440 ephemeris)</a:t>
            </a:r>
          </a:p>
          <a:p>
            <a:pPr>
              <a:lnSpc>
                <a:spcPct val="150000"/>
              </a:lnSpc>
              <a:defRPr sz="2800">
                <a:solidFill>
                  <a:srgbClr val="FFFFFF"/>
                </a:solidFill>
              </a:defRPr>
            </a:pPr>
            <a:r>
              <a:t>  Cross-platform: macOS, Linux, Windows (via WSL)</a:t>
            </a:r>
          </a:p>
          <a:p>
            <a:pPr>
              <a:lnSpc>
                <a:spcPct val="150000"/>
              </a:lnSpc>
              <a:defRPr sz="2800">
                <a:solidFill>
                  <a:srgbClr val="FFFFFF"/>
                </a:solidFill>
              </a:defRPr>
            </a:pPr>
            <a:r>
              <a:t>  Built with Python, PyQt6, matplotlib, Skyfield,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7889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C107"/>
                </a:solidFill>
              </a:defRPr>
            </a:pPr>
            <a:r>
              <a:t>*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8648" y="5029200"/>
            <a:ext cx="6400800" cy="914400"/>
          </a:xfrm>
          <a:prstGeom prst="roundRect">
            <a:avLst/>
          </a:prstGeom>
          <a:solidFill>
            <a:srgbClr val="D0E8F8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1A235B"/>
                </a:solidFill>
              </a:defRPr>
            </a:pPr>
            <a:r>
              <a:t>Orbits are not currently being integrated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Core Visualization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914400"/>
            <a:ext cx="4876495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Map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Rectangular (RA/Dec grid)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Hammer (equal-area)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Aitoff (azimuthal)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Mollweide (pseudo-cylindrical)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Coordinate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Equatorial (standard obs)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Ecliptic (orbital reference)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Galactic coordinates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Opposition-centered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57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Real-Time Animation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06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8AB4D9"/>
                </a:solidFill>
              </a:defRPr>
            </a:pPr>
            <a:r>
              <a:t>  Variable playback rates (hours/days/months per second)</a:t>
            </a:r>
          </a:p>
          <a:p>
            <a:pPr>
              <a:defRPr sz="2200">
                <a:solidFill>
                  <a:srgbClr val="8AB4D9"/>
                </a:solidFill>
              </a:defRPr>
            </a:pPr>
            <a:r>
              <a:t>  Forward and backward playback</a:t>
            </a:r>
          </a:p>
          <a:p>
            <a:pPr>
              <a:defRPr sz="2200">
                <a:solidFill>
                  <a:srgbClr val="8AB4D9"/>
                </a:solidFill>
              </a:defRPr>
            </a:pPr>
            <a:r>
              <a:t>  ~10 FPS with 40,000+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46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107"/>
                </a:solidFill>
              </a:defRPr>
            </a:pPr>
            <a:r>
              <a:t>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5760720"/>
            <a:ext cx="5486400" cy="731520"/>
          </a:xfrm>
          <a:prstGeom prst="roundRect">
            <a:avLst/>
          </a:prstGeom>
          <a:solidFill>
            <a:srgbClr val="D0E8F8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1A235B"/>
                </a:solidFill>
              </a:defRPr>
            </a:pPr>
            <a:r>
              <a:t>As permitted by your hardware and 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Multi-Dimensional Data Encoding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914400"/>
            <a:ext cx="4876495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Color Encodes: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V Magnitude (visual brightness)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H Magnitude (intrinsic brightness)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CNEOS Discovery Site (observatory)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Size Encodes: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V or H Magnitude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Distance from Earth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Earth MOID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Orbital Period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Eccentricity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31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Filtering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805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Dual magnitude limits (V and H, min and max)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NEO orbital classes (Atira, Aten, Apollo, Amor)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Earth MOID range filter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Hide objects before discovery date (lunation-based)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Built-In Analysis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914400"/>
            <a:ext cx="4876495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600">
                <a:solidFill>
                  <a:srgbClr val="FFFFFF"/>
                </a:solidFill>
              </a:defRPr>
            </a:pPr>
            <a:r>
              <a:t>  Heliocentric Polar Chart - Sun-centered ecliptic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03120"/>
            <a:ext cx="10515600" cy="25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600">
                <a:solidFill>
                  <a:srgbClr val="FFFFFF"/>
                </a:solidFill>
              </a:defRPr>
            </a:pPr>
            <a:r>
              <a:t>  MOID vs H Magnitude - Visualize Potentially Hazardous Asteroids</a:t>
            </a:r>
          </a:p>
          <a:p>
            <a:pPr>
              <a:lnSpc>
                <a:spcPct val="150000"/>
              </a:lnSpc>
              <a:defRPr sz="2600">
                <a:solidFill>
                  <a:srgbClr val="FFFFFF"/>
                </a:solidFill>
              </a:defRPr>
            </a:pPr>
            <a:r>
              <a:t>  NEO Discovery Timeline - Catalog growth through history</a:t>
            </a:r>
          </a:p>
          <a:p>
            <a:pPr>
              <a:lnSpc>
                <a:spcPct val="150000"/>
              </a:lnSpc>
              <a:defRPr sz="2600">
                <a:solidFill>
                  <a:srgbClr val="FFFFFF"/>
                </a:solidFill>
              </a:defRPr>
            </a:pPr>
            <a:r>
              <a:t>  Solar Elongation vs Distance - Observability planning</a:t>
            </a:r>
          </a:p>
          <a:p>
            <a:pPr>
              <a:lnSpc>
                <a:spcPct val="150000"/>
              </a:lnSpc>
              <a:defRPr sz="2600">
                <a:solidFill>
                  <a:srgbClr val="FFFFFF"/>
                </a:solidFill>
              </a:defRPr>
            </a:pPr>
            <a:r>
              <a:t>  Orbital Element Space (a vs e) - Classification view</a:t>
            </a:r>
          </a:p>
          <a:p>
            <a:pPr>
              <a:lnSpc>
                <a:spcPct val="150000"/>
              </a:lnSpc>
              <a:defRPr sz="2600">
                <a:solidFill>
                  <a:srgbClr val="FFFFFF"/>
                </a:solidFill>
              </a:defRPr>
            </a:pPr>
            <a:r>
              <a:t>  Lunar Phases Calendar - CLN tracking for observation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107"/>
                </a:solidFill>
              </a:defRPr>
            </a:pPr>
            <a:r>
              <a:t>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5486400"/>
            <a:ext cx="5486400" cy="731520"/>
          </a:xfrm>
          <a:prstGeom prst="roundRect">
            <a:avLst/>
          </a:prstGeom>
          <a:solidFill>
            <a:srgbClr val="D0E8F8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1A235B"/>
                </a:solidFill>
              </a:defRPr>
            </a:pPr>
            <a:r>
              <a:t>Optimizing these charts TBD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Advanced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914400"/>
            <a:ext cx="4876495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Astronomical Overlays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IAU constellation boundaries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Bright star catalog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Ecliptic and Galactic planes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Observer horizon &amp; twilight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Catalog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  Load alternate catalog versions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Blink between catalogs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View new/deleted/changed objects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  Pre-computed position cache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14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Interactive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6634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8AB4D9"/>
                </a:solidFill>
              </a:defRPr>
            </a:pPr>
            <a:r>
              <a:t>  Click any NEO for detailed orbital elements and discovery info</a:t>
            </a:r>
          </a:p>
          <a:p>
            <a:pPr>
              <a:defRPr sz="2200">
                <a:solidFill>
                  <a:srgbClr val="8AB4D9"/>
                </a:solidFill>
              </a:defRPr>
            </a:pPr>
            <a:r>
              <a:t>  Shift+Click for constellation ID</a:t>
            </a:r>
          </a:p>
          <a:p>
            <a:pPr>
              <a:defRPr sz="2200">
                <a:solidFill>
                  <a:srgbClr val="8AB4D9"/>
                </a:solidFill>
              </a:defRPr>
            </a:pPr>
            <a:r>
              <a:t>  Sortable data tables with CSV export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Performance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914400"/>
            <a:ext cx="4876495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  HDF5 position cache with variable precision tiers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     - High precision (daily) for current year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     - Medium precision (weekly) for ±5 years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     - Low precision (monthly) for extended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1089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FFFFFF"/>
                </a:solidFill>
              </a:defRPr>
            </a:pPr>
            <a:r>
              <a:t>  ~10 FPS sustained for 40,000+ objects</a:t>
            </a:r>
          </a:p>
          <a:p>
            <a:pPr>
              <a:lnSpc>
                <a:spcPct val="150000"/>
              </a:lnSpc>
              <a:defRPr sz="2400">
                <a:solidFill>
                  <a:srgbClr val="FFFFFF"/>
                </a:solidFill>
              </a:defRPr>
            </a:pPr>
            <a:r>
              <a:t>  Magnitude hysteresis reduces visual twinkling</a:t>
            </a:r>
          </a:p>
          <a:p>
            <a:pPr>
              <a:lnSpc>
                <a:spcPct val="150000"/>
              </a:lnSpc>
              <a:defRPr sz="2400">
                <a:solidFill>
                  <a:srgbClr val="FFFFFF"/>
                </a:solidFill>
              </a:defRPr>
            </a:pPr>
            <a:r>
              <a:t>  Efficient LineCollection for boundary rendering</a:t>
            </a:r>
          </a:p>
          <a:p>
            <a:pPr>
              <a:lnSpc>
                <a:spcPct val="150000"/>
              </a:lnSpc>
              <a:defRPr sz="2400">
                <a:solidFill>
                  <a:srgbClr val="FFFFFF"/>
                </a:solidFill>
              </a:defRPr>
            </a:pPr>
            <a:r>
              <a:t>  SQLite database via SQLAlchemy 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Future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914400"/>
            <a:ext cx="4876495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600">
                <a:solidFill>
                  <a:srgbClr val="FFFFFF"/>
                </a:solidFill>
              </a:defRPr>
            </a:pPr>
            <a:r>
              <a:t>  NEOfixer integration</a:t>
            </a:r>
          </a:p>
          <a:p>
            <a:pPr>
              <a:lnSpc>
                <a:spcPct val="150000"/>
              </a:lnSpc>
              <a:defRPr sz="2600">
                <a:solidFill>
                  <a:srgbClr val="FFFFFF"/>
                </a:solidFill>
              </a:defRPr>
            </a:pPr>
            <a:r>
              <a:t>     - Additional observational planning modes</a:t>
            </a:r>
          </a:p>
          <a:p>
            <a:pPr>
              <a:lnSpc>
                <a:spcPct val="150000"/>
              </a:lnSpc>
              <a:defRPr sz="2600">
                <a:solidFill>
                  <a:srgbClr val="FFFFFF"/>
                </a:solidFill>
              </a:defRPr>
            </a:pPr>
            <a:r>
              <a:t>  Performance optimization for 100,000+ NEOs (catalog growing rapidly)</a:t>
            </a:r>
          </a:p>
          <a:p>
            <a:pPr>
              <a:lnSpc>
                <a:spcPct val="150000"/>
              </a:lnSpc>
              <a:defRPr sz="2600">
                <a:solidFill>
                  <a:srgbClr val="FFFFFF"/>
                </a:solidFill>
              </a:defRPr>
            </a:pPr>
            <a:r>
              <a:t>  Database schema normalization as features expand</a:t>
            </a:r>
          </a:p>
          <a:p>
            <a:pPr>
              <a:lnSpc>
                <a:spcPct val="150000"/>
              </a:lnSpc>
              <a:defRPr sz="2600">
                <a:solidFill>
                  <a:srgbClr val="FFFFFF"/>
                </a:solidFill>
              </a:defRPr>
            </a:pPr>
            <a:r>
              <a:t>  Community feedback and feature requests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C107"/>
                </a:solidFill>
              </a:defRPr>
            </a:pPr>
            <a:r>
              <a:t>Contact: rseaman@arizona.edu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E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108960"/>
            <a:ext cx="4876495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8AB4D9"/>
                </a:solidFill>
              </a:defRPr>
            </a:pPr>
            <a:r>
              <a:t>Projections  |  Filtering  |  Catalog Blinking  |  Animation</a:t>
            </a:r>
          </a:p>
        </p:txBody>
      </p:sp>
      <p:sp>
        <p:nvSpPr>
          <p:cNvPr id="5" name="Oval 4"/>
          <p:cNvSpPr/>
          <p:nvPr/>
        </p:nvSpPr>
        <p:spPr>
          <a:xfrm>
            <a:off x="9416491" y="4082796"/>
            <a:ext cx="1892807" cy="18928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SS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935" y="420624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