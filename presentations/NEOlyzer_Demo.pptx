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07"/>
    <a:srgbClr val="FFC1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28"/>
    <p:restoredTop sz="94639"/>
  </p:normalViewPr>
  <p:slideViewPr>
    <p:cSldViewPr snapToGrid="0" snapToObjects="1">
      <p:cViewPr varScale="1">
        <p:scale>
          <a:sx n="127" d="100"/>
          <a:sy n="127" d="100"/>
        </p:scale>
        <p:origin x="192" y="7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NEOlyzer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8AB4D9"/>
                </a:solidFill>
              </a:defRPr>
            </a:pPr>
            <a:r>
              <a:t>A New Visualization Tool for Near-Earth Objects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84048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Rob Seaman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AB4D9"/>
                </a:solidFill>
              </a:defRPr>
            </a:pPr>
            <a:r>
              <a:t>Catalina Sky Survey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Claude (Anthropic)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AB4D9"/>
                </a:solidFill>
              </a:defRPr>
            </a:pPr>
            <a:r>
              <a:t>AI Implementation Partner</a:t>
            </a:r>
          </a:p>
        </p:txBody>
      </p:sp>
      <p:sp>
        <p:nvSpPr>
          <p:cNvPr id="9" name="Oval 8"/>
          <p:cNvSpPr/>
          <p:nvPr/>
        </p:nvSpPr>
        <p:spPr>
          <a:xfrm>
            <a:off x="973836" y="4087368"/>
            <a:ext cx="2313432" cy="2313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4238244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D51D9F-5CDA-A366-EB40-90783E81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EBF72A-FE85-DEF2-282F-A60E3CA18019}"/>
              </a:ext>
            </a:extLst>
          </p:cNvPr>
          <p:cNvSpPr txBox="1"/>
          <p:nvPr/>
        </p:nvSpPr>
        <p:spPr>
          <a:xfrm>
            <a:off x="457200" y="274320"/>
            <a:ext cx="11277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Wh</a:t>
            </a:r>
            <a:r>
              <a:rPr lang="en-US" dirty="0"/>
              <a:t>y</a:t>
            </a:r>
            <a:r>
              <a:rPr dirty="0"/>
              <a:t> </a:t>
            </a:r>
            <a:r>
              <a:rPr dirty="0" err="1"/>
              <a:t>NEOlyzer</a:t>
            </a:r>
            <a:r>
              <a:rPr dirty="0"/>
              <a:t>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8E5988-539A-5080-90E3-6E4C0CDA1917}"/>
              </a:ext>
            </a:extLst>
          </p:cNvPr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C119C7-0DAD-4828-8D3A-F45E9BCB0649}"/>
              </a:ext>
            </a:extLst>
          </p:cNvPr>
          <p:cNvSpPr txBox="1"/>
          <p:nvPr/>
        </p:nvSpPr>
        <p:spPr>
          <a:xfrm>
            <a:off x="685800" y="1371600"/>
            <a:ext cx="10515600" cy="528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en-US" sz="3200" i="1" dirty="0">
                <a:solidFill>
                  <a:srgbClr val="FFC107"/>
                </a:solidFill>
              </a:rPr>
              <a:t>Unlike the </a:t>
            </a:r>
            <a:r>
              <a:rPr lang="en-US" sz="3200" i="1" dirty="0" err="1">
                <a:solidFill>
                  <a:srgbClr val="FFC107"/>
                </a:solidFill>
              </a:rPr>
              <a:t>Neuralyzer</a:t>
            </a:r>
            <a:r>
              <a:rPr lang="en-US" sz="3200" i="1" dirty="0">
                <a:solidFill>
                  <a:srgbClr val="FFC107"/>
                </a:solidFill>
              </a:rPr>
              <a:t> in MiB, </a:t>
            </a:r>
            <a:r>
              <a:rPr lang="en-US" sz="3200" i="1" dirty="0" err="1">
                <a:solidFill>
                  <a:srgbClr val="FFC107"/>
                </a:solidFill>
              </a:rPr>
              <a:t>NEOlyzer</a:t>
            </a:r>
            <a:r>
              <a:rPr lang="en-US" sz="3200" i="1" dirty="0">
                <a:solidFill>
                  <a:srgbClr val="FFC107"/>
                </a:solidFill>
              </a:rPr>
              <a:t> helps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en-US" sz="3200" i="1" dirty="0">
                <a:solidFill>
                  <a:srgbClr val="FFC107"/>
                </a:solidFill>
              </a:rPr>
              <a:t>you remember information about NEOs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endParaRPr lang="en-US" sz="1400" i="1" dirty="0">
              <a:solidFill>
                <a:srgbClr val="FFC108"/>
              </a:solidFill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  <a:defRPr sz="2800">
                <a:solidFill>
                  <a:srgbClr val="FFFFFF"/>
                </a:solidFill>
              </a:defRPr>
            </a:pPr>
            <a:r>
              <a:rPr lang="en-US" sz="3200" dirty="0"/>
              <a:t>Rich i</a:t>
            </a:r>
            <a:r>
              <a:rPr sz="3200" dirty="0"/>
              <a:t>nteractive visualization of </a:t>
            </a:r>
            <a:r>
              <a:rPr lang="en-US" sz="3200" dirty="0" err="1"/>
              <a:t>NEA.txt</a:t>
            </a:r>
            <a:endParaRPr lang="en-US" sz="3200" dirty="0"/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  <a:defRPr sz="2800">
                <a:solidFill>
                  <a:srgbClr val="FFFFFF"/>
                </a:solidFill>
              </a:defRPr>
            </a:pPr>
            <a:r>
              <a:rPr lang="en-US" sz="2400" dirty="0"/>
              <a:t>Data fusion with SBDB, SBN </a:t>
            </a:r>
            <a:r>
              <a:rPr lang="en-US" sz="2400" dirty="0" err="1"/>
              <a:t>postgres</a:t>
            </a:r>
            <a:r>
              <a:rPr lang="en-US" sz="2400" dirty="0"/>
              <a:t> DB, and others </a:t>
            </a:r>
            <a:r>
              <a:rPr lang="en-US" sz="1600" i="1" dirty="0"/>
              <a:t>(ETL = Extract, Transform, Load)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  <a:defRPr sz="2800">
                <a:solidFill>
                  <a:srgbClr val="FFFFFF"/>
                </a:solidFill>
              </a:defRPr>
            </a:pPr>
            <a:r>
              <a:rPr lang="en-US" sz="2400" dirty="0"/>
              <a:t>Database queries are as important as visualization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  <a:defRPr sz="2800">
                <a:solidFill>
                  <a:srgbClr val="FFFFFF"/>
                </a:solidFill>
              </a:defRPr>
            </a:pPr>
            <a:endParaRPr sz="14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  <a:defRPr sz="2800">
                <a:solidFill>
                  <a:srgbClr val="FFFFFF"/>
                </a:solidFill>
              </a:defRPr>
            </a:pPr>
            <a:r>
              <a:rPr sz="3200" dirty="0"/>
              <a:t>  </a:t>
            </a:r>
            <a:r>
              <a:rPr lang="en-US" sz="3200" dirty="0"/>
              <a:t>Explore what’s possible with AI coding techniques in 2026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  <a:defRPr sz="2800">
                <a:solidFill>
                  <a:srgbClr val="FFFFFF"/>
                </a:solidFill>
              </a:defRPr>
            </a:pPr>
            <a:r>
              <a:rPr lang="en-US" sz="2400" dirty="0"/>
              <a:t>“Quite a bit” is the answer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  <a:defRPr sz="2800">
                <a:solidFill>
                  <a:srgbClr val="FFFFFF"/>
                </a:solidFill>
              </a:defRPr>
            </a:pPr>
            <a:r>
              <a:rPr lang="en-US" sz="2400" dirty="0"/>
              <a:t>Human input remains critical to success</a:t>
            </a:r>
          </a:p>
        </p:txBody>
      </p:sp>
    </p:spTree>
    <p:extLst>
      <p:ext uri="{BB962C8B-B14F-4D97-AF65-F5344CB8AC3E}">
        <p14:creationId xmlns:p14="http://schemas.microsoft.com/office/powerpoint/2010/main" val="3701854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How This Presentation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00584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i="1">
                <a:solidFill>
                  <a:srgbClr val="FFFFFF"/>
                </a:solidFill>
              </a:defRPr>
            </a:pPr>
            <a:r>
              <a:rPr lang="en-US" dirty="0"/>
              <a:t>“</a:t>
            </a:r>
            <a:r>
              <a:rPr dirty="0"/>
              <a:t>Good morning. It's been a few days since I worked on this. I need to create</a:t>
            </a:r>
            <a:br>
              <a:rPr dirty="0"/>
            </a:br>
            <a:r>
              <a:rPr dirty="0"/>
              <a:t>a demo of </a:t>
            </a:r>
            <a:r>
              <a:rPr dirty="0" err="1"/>
              <a:t>NEOlyzer</a:t>
            </a:r>
            <a:r>
              <a:rPr dirty="0"/>
              <a:t>. Perhaps you can remind me - and yourself - of its high</a:t>
            </a:r>
            <a:br>
              <a:rPr dirty="0"/>
            </a:br>
            <a:r>
              <a:rPr dirty="0"/>
              <a:t>points. Hmm. For that matter, I have both </a:t>
            </a:r>
            <a:r>
              <a:rPr dirty="0" err="1"/>
              <a:t>Powerpoint</a:t>
            </a:r>
            <a:r>
              <a:rPr dirty="0"/>
              <a:t> and Keynote on this</a:t>
            </a:r>
            <a:br>
              <a:rPr dirty="0"/>
            </a:br>
            <a:r>
              <a:rPr dirty="0"/>
              <a:t>computer. Can you directly create a presentation while I kibitz?</a:t>
            </a:r>
            <a:r>
              <a:rPr lang="en-US" dirty="0"/>
              <a:t>"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85800" y="43891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rPr dirty="0"/>
              <a:t>This presentation was generated by Claude Code from a conversational prompt.</a:t>
            </a:r>
            <a:br>
              <a:rPr dirty="0"/>
            </a:br>
            <a:br>
              <a:rPr dirty="0"/>
            </a:br>
            <a:r>
              <a:rPr dirty="0" err="1"/>
              <a:t>NEOlyzer</a:t>
            </a:r>
            <a:r>
              <a:rPr dirty="0"/>
              <a:t> itself was developed through AI-assisted programming, achieving</a:t>
            </a:r>
            <a:br>
              <a:rPr dirty="0"/>
            </a:br>
            <a:r>
              <a:rPr dirty="0"/>
              <a:t>a Minimum Viable Product in a few days. Total effort was about two weeks.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is NEOlyzer?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Interactive visualization of the Near-Earth Object catalog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Displays 40,000+ NEOs with smooth real-time animation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Time range spanning 1550-2650 (using JPL DE440 ephemeris)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Cross-platform: macOS, Linux, Windows (via WSL)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Built with Python, PyQt6, matplotlib, Skyfield,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78892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C107"/>
                </a:solidFill>
              </a:defRPr>
            </a:pPr>
            <a:r>
              <a:t>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5013" y="5361140"/>
            <a:ext cx="5197174" cy="688932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>
                <a:solidFill>
                  <a:srgbClr val="1A235B"/>
                </a:solidFill>
              </a:defRPr>
            </a:pPr>
            <a:r>
              <a:t>Orbits are not currently being integrated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Core Visualization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Map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Rectangular (RA/Dec grid)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Hammer (equal-area)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Aitoff (azimuthal)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Mollweide (pseudo-cylindrical)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Coordinate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Equatorial (standard obs)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(orbital reference)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Galactic coordinates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Opposition-centered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Real-Time 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6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t>  Variable playback rates (hours/days/months per second)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Forward and backward playback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~10 FPS with 40,000+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8463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C107"/>
                </a:solidFill>
              </a:defRPr>
            </a:pPr>
            <a:r>
              <a:rPr dirty="0"/>
              <a:t>*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8700" y="5303520"/>
            <a:ext cx="4590789" cy="731520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>
                <a:solidFill>
                  <a:srgbClr val="1A235B"/>
                </a:solidFill>
              </a:defRPr>
            </a:pPr>
            <a:r>
              <a:rPr dirty="0"/>
              <a:t>As permitted by your hardware and 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Multi-Dimensional Data Encoding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Color Encodes: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Magnitude (visual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 Magnitude (intrinsic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CNEOS Discovery Site (observatory)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Size Encodes: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or H Magnitude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Distance from Earth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Orbital Period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Eccentricity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Filtering 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0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Dual magnitude limits (V and H, min and max)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NEO orbital classes (Atira, Aten, Apollo, Amor)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 range filter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Hide objects before discovery date (lunation-based)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212BF-20CF-3932-584F-B3470E35065C}"/>
              </a:ext>
            </a:extLst>
          </p:cNvPr>
          <p:cNvSpPr txBox="1"/>
          <p:nvPr/>
        </p:nvSpPr>
        <p:spPr>
          <a:xfrm>
            <a:off x="4718987" y="21488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C107"/>
                </a:solidFill>
              </a:defRPr>
            </a:pPr>
            <a:r>
              <a:rPr dirty="0"/>
              <a:t>*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0B844AF-AF7E-7014-C48A-591C39B19471}"/>
              </a:ext>
            </a:extLst>
          </p:cNvPr>
          <p:cNvSpPr/>
          <p:nvPr/>
        </p:nvSpPr>
        <p:spPr>
          <a:xfrm>
            <a:off x="6867446" y="4480560"/>
            <a:ext cx="4867049" cy="731520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>
                <a:solidFill>
                  <a:srgbClr val="1A235B"/>
                </a:solidFill>
              </a:defRPr>
            </a:pPr>
            <a:r>
              <a:rPr lang="en-US" dirty="0"/>
              <a:t>AI doesn’t remember I asked to </a:t>
            </a:r>
            <a:r>
              <a:rPr lang="en-US"/>
              <a:t>disable H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Built-In Analysis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Heliocentric Polar Chart - Sun-centered ecliptic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3120"/>
            <a:ext cx="10515600" cy="254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MOID vs H Magnitude - Visualize Potentially Hazardous Asteroids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NEO Discovery Timeline - Catalog growth through history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Solar Elongation vs Distance - Observability planning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Orbital Element Space (a vs e) - Classification view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Lunar Phases Calendar - CLN tracking for observation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69885" y="24028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C107"/>
                </a:solidFill>
              </a:defRPr>
            </a:pPr>
            <a:r>
              <a:rPr dirty="0"/>
              <a:t>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79998" y="5577840"/>
            <a:ext cx="3527204" cy="731520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>
                <a:solidFill>
                  <a:srgbClr val="1A235B"/>
                </a:solidFill>
              </a:defRPr>
            </a:pPr>
            <a:r>
              <a:t>Optimizing these charts TBD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Advanced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Astronomical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IAU constellation boundaries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Bright star catalog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and Galactic planes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Observer horizon &amp; twilight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Catalog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Load alternate catalog versions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Blink between catalogs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View new/deleted/changed objects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Pre-computed position cache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Interactive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634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t>  Click any NEO for detailed orbital elements and discovery info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Shift+Click for constellation ID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Sortable data tables with CSV export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Performance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  HDF5 position cache with variable precision tiers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High precision (daily) for current year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Medium precision (weekly) for ±5 years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Low precision (monthly) for extended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~10 FPS sustained for 40,000+ objects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Magnitude hysteresis reduces visual twinkling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Efficient LineCollection for boundary rendering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SQLite database via SQLAlchemy 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NEOfixer integration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   - Additional observational planning modes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Performance optimization for 100,000+ NEOs (catalog growing rapidly)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Database schema normalization as features expand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Community feedback and feature requests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107"/>
                </a:solidFill>
              </a:defRPr>
            </a:pPr>
            <a:r>
              <a:t>Contact: rseaman@arizona.edu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352" y="1471808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dirty="0"/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752" y="2294768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952" y="3026288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8AB4D9"/>
                </a:solidFill>
              </a:defRPr>
            </a:pPr>
            <a:r>
              <a:t>Projections  |  Filtering  |  Catalog Blinking  |  Animation</a:t>
            </a:r>
          </a:p>
        </p:txBody>
      </p:sp>
      <p:sp>
        <p:nvSpPr>
          <p:cNvPr id="5" name="Oval 4"/>
          <p:cNvSpPr/>
          <p:nvPr/>
        </p:nvSpPr>
        <p:spPr>
          <a:xfrm>
            <a:off x="5149596" y="4208056"/>
            <a:ext cx="1892807" cy="189280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040" y="43315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712</Words>
  <Application>Microsoft Macintosh PowerPoint</Application>
  <PresentationFormat>Widescreen</PresentationFormat>
  <Paragraphs>105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Seaman, Robert Lewis - (rseaman)</cp:lastModifiedBy>
  <cp:revision>6</cp:revision>
  <dcterms:created xsi:type="dcterms:W3CDTF">2013-01-27T09:14:16Z</dcterms:created>
  <dcterms:modified xsi:type="dcterms:W3CDTF">2026-02-02T03:57:54Z</dcterms:modified>
  <cp:category/>
</cp:coreProperties>
</file>