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6"/>
  </p:normalViewPr>
  <p:slideViewPr>
    <p:cSldViewPr snapToGrid="0" snapToObjects="1">
      <p:cViewPr varScale="1">
        <p:scale>
          <a:sx n="203" d="100"/>
          <a:sy n="203" d="100"/>
        </p:scale>
        <p:origin x="89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NEOlyzer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8AB4D9"/>
                </a:solidFill>
              </a:defRPr>
            </a:pPr>
            <a:r>
              <a:t>A New Visualization Tool for Near-Earth Objects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84048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Rob Seaman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AB4D9"/>
                </a:solidFill>
              </a:defRPr>
            </a:pPr>
            <a:r>
              <a:t>Catalina Sky Survey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Claude (Anthropic)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AB4D9"/>
                </a:solidFill>
              </a:defRPr>
            </a:pPr>
            <a:r>
              <a:t>AI Implementation Partner</a:t>
            </a:r>
          </a:p>
        </p:txBody>
      </p:sp>
      <p:sp>
        <p:nvSpPr>
          <p:cNvPr id="9" name="Oval 8"/>
          <p:cNvSpPr/>
          <p:nvPr/>
        </p:nvSpPr>
        <p:spPr>
          <a:xfrm>
            <a:off x="973836" y="4087368"/>
            <a:ext cx="2313432" cy="2313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SS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4238244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How This Presentation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100584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i="1">
                <a:solidFill>
                  <a:srgbClr val="FFFFFF"/>
                </a:solidFill>
              </a:defRPr>
            </a:pPr>
            <a:r>
              <a:t>Good morning. It's been a few days since I worked on this. I need to create</a:t>
            </a:r>
            <a:br/>
            <a:r>
              <a:t>a demo of NEOlyzer. Perhaps you can remind me - and yourself - of its high</a:t>
            </a:r>
            <a:br/>
            <a:r>
              <a:t>points. Hmm. For that matter, I have both Powerpoint and Keynote on this</a:t>
            </a:r>
            <a:br/>
            <a:r>
              <a:t>computer. Can you directly create a presentation while I kibitz?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3891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8AB4D9"/>
                </a:solidFill>
              </a:defRPr>
            </a:pPr>
            <a:r>
              <a:t>This presentation was generated by Claude Code from a conversational prompt.</a:t>
            </a:r>
            <a:br/>
            <a:br/>
            <a:r>
              <a:t>NEOlyzer itself was developed through AI-assisted programming, achieving</a:t>
            </a:r>
            <a:br/>
            <a:r>
              <a:t>a Minimum Viable Product in a few days. Total effort was about two weeks.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What is NEOlyzer?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Interactive visualization of the Near-Earth Object catalog</a:t>
            </a:r>
          </a:p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Displays 40,000+ NEOs with smooth real-time animation</a:t>
            </a:r>
          </a:p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Time range spanning 1550-2650 (using JPL DE440 ephemeris)</a:t>
            </a:r>
          </a:p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Cross-platform: macOS, Linux, Windows (via WSL)</a:t>
            </a:r>
          </a:p>
          <a:p>
            <a:pPr>
              <a:lnSpc>
                <a:spcPct val="150000"/>
              </a:lnSpc>
              <a:defRPr sz="2800">
                <a:solidFill>
                  <a:srgbClr val="FFFFFF"/>
                </a:solidFill>
              </a:defRPr>
            </a:pPr>
            <a:r>
              <a:t>  Built with Python, PyQt6, matplotlib, Skyfield,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78892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C107"/>
                </a:solidFill>
              </a:defRPr>
            </a:pPr>
            <a:r>
              <a:t>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5013" y="5361140"/>
            <a:ext cx="5197174" cy="688932"/>
          </a:xfrm>
          <a:prstGeom prst="roundRect">
            <a:avLst/>
          </a:prstGeom>
          <a:solidFill>
            <a:srgbClr val="D0E8F8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>
                <a:solidFill>
                  <a:srgbClr val="1A235B"/>
                </a:solidFill>
              </a:defRPr>
            </a:pPr>
            <a:r>
              <a:t>Orbits are not currently being integrated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Core Visualization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Map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Rectangular (RA/Dec grid)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Hammer (equal-area)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Aitoff (azimuthal)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Mollweide (pseudo-cylindrical)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Coordinate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Equatorial (standard obs)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Ecliptic (orbital reference)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Galactic coordinates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Opposition-centered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Real-Time Animation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62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8AB4D9"/>
                </a:solidFill>
              </a:defRPr>
            </a:pPr>
            <a:r>
              <a:t>  Variable playback rates (hours/days/months per second)</a:t>
            </a:r>
          </a:p>
          <a:p>
            <a:pPr>
              <a:defRPr sz="2200">
                <a:solidFill>
                  <a:srgbClr val="8AB4D9"/>
                </a:solidFill>
              </a:defRPr>
            </a:pPr>
            <a:r>
              <a:t>  Forward and backward playback</a:t>
            </a:r>
          </a:p>
          <a:p>
            <a:pPr>
              <a:defRPr sz="2200">
                <a:solidFill>
                  <a:srgbClr val="8AB4D9"/>
                </a:solidFill>
              </a:defRPr>
            </a:pPr>
            <a:r>
              <a:t>  ~10 FPS with 40,000+ objects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48463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C107"/>
                </a:solidFill>
              </a:defRPr>
            </a:pPr>
            <a:r>
              <a:t>*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8700" y="5303520"/>
            <a:ext cx="4590789" cy="731520"/>
          </a:xfrm>
          <a:prstGeom prst="roundRect">
            <a:avLst/>
          </a:prstGeom>
          <a:solidFill>
            <a:srgbClr val="D0E8F8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>
                <a:solidFill>
                  <a:srgbClr val="1A235B"/>
                </a:solidFill>
              </a:defRPr>
            </a:pPr>
            <a:r>
              <a:t>As permitted by your hardware and 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Multi-Dimensional Data Encoding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Color Encodes: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V Magnitude (visual brightness)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 Magnitude (intrinsic brightness)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CNEOS Discovery Site (observatory)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Size Encodes: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V or H Magnitude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Distance from Earth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Earth MOID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Orbital Period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Eccentricity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319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Filtering Options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80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Dual magnitude limits (V and H, min and max)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NEO orbital classes (Atira, Aten, Apollo, Amor)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Earth MOID range filter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Hide objects before discovery date (lunation-based)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Built-In Analysis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Heliocentric Polar Chart - Sun-centered ecliptic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03120"/>
            <a:ext cx="10515600" cy="254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MOID vs H Magnitude - Visualize Potentially Hazardous Asteroids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NEO Discovery Timeline - Catalog growth through history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Solar Elongation vs Distance - Observability planning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Orbital Element Space (a vs e) - Classification view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Lunar Phases Calendar - CLN tracking for observation scheduling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69885" y="24028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C107"/>
                </a:solidFill>
              </a:defRPr>
            </a:pPr>
            <a:r>
              <a:rPr dirty="0"/>
              <a:t>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79998" y="5577840"/>
            <a:ext cx="3527204" cy="731520"/>
          </a:xfrm>
          <a:prstGeom prst="roundRect">
            <a:avLst/>
          </a:prstGeom>
          <a:solidFill>
            <a:srgbClr val="D0E8F8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>
                <a:solidFill>
                  <a:srgbClr val="1A235B"/>
                </a:solidFill>
              </a:defRPr>
            </a:pPr>
            <a:r>
              <a:t>Optimizing these charts TBD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Advanced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Astronomical Overlays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IAU constellation boundaries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Bright star catalog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Ecliptic and Galactic planes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Observer horizon &amp; twilight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Catalog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Load alternate catalog versions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Blink between catalogs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View new/deleted/changed objects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Pre-computed position cache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Interactive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634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8AB4D9"/>
                </a:solidFill>
              </a:defRPr>
            </a:pPr>
            <a:r>
              <a:t>  Click any NEO for detailed orbital elements and discovery info</a:t>
            </a:r>
          </a:p>
          <a:p>
            <a:pPr>
              <a:defRPr sz="2200">
                <a:solidFill>
                  <a:srgbClr val="8AB4D9"/>
                </a:solidFill>
              </a:defRPr>
            </a:pPr>
            <a:r>
              <a:t>  Shift+Click for constellation ID</a:t>
            </a:r>
          </a:p>
          <a:p>
            <a:pPr>
              <a:defRPr sz="2200">
                <a:solidFill>
                  <a:srgbClr val="8AB4D9"/>
                </a:solidFill>
              </a:defRPr>
            </a:pPr>
            <a:r>
              <a:t>  Sortable data tables with CSV export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Performance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  HDF5 position cache with variable precision tiers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High precision (daily) for current year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Medium precision (weekly) for ±5 years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Low precision (monthly) for extended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089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t>  ~10 FPS sustained for 40,000+ objects</a:t>
            </a:r>
          </a:p>
          <a:p>
            <a:pPr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t>  Magnitude hysteresis reduces visual twinkling</a:t>
            </a:r>
          </a:p>
          <a:p>
            <a:pPr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t>  Efficient LineCollection for boundary rendering</a:t>
            </a:r>
          </a:p>
          <a:p>
            <a:pPr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t>  SQLite database via SQLAlchemy 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Future Directions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NEOfixer integration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   - Additional observational planning modes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Performance optimization for 100,000+ NEOs (catalog growing rapidly)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Database schema normalization as features expand</a:t>
            </a:r>
          </a:p>
          <a:p>
            <a:pPr>
              <a:lnSpc>
                <a:spcPct val="150000"/>
              </a:lnSpc>
              <a:defRPr sz="2600">
                <a:solidFill>
                  <a:srgbClr val="FFFFFF"/>
                </a:solidFill>
              </a:defRPr>
            </a:pPr>
            <a:r>
              <a:t>  Community feedback and feature requests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7548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C107"/>
                </a:solidFill>
              </a:defRPr>
            </a:pPr>
            <a:r>
              <a:t>Contact: rseaman@arizona.edu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3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352" y="1471808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dirty="0"/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752" y="2294768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952" y="3026288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8AB4D9"/>
                </a:solidFill>
              </a:defRPr>
            </a:pPr>
            <a:r>
              <a:t>Projections  |  Filtering  |  Catalog Blinking  |  Animation</a:t>
            </a:r>
          </a:p>
        </p:txBody>
      </p:sp>
      <p:sp>
        <p:nvSpPr>
          <p:cNvPr id="5" name="Oval 4"/>
          <p:cNvSpPr/>
          <p:nvPr/>
        </p:nvSpPr>
        <p:spPr>
          <a:xfrm>
            <a:off x="5149596" y="4208056"/>
            <a:ext cx="1892807" cy="189280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SS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040" y="43315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625</Words>
  <Application>Microsoft Macintosh PowerPoint</Application>
  <PresentationFormat>Widescreen</PresentationFormat>
  <Paragraphs>92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Seaman, Robert Lewis - (rseaman)</cp:lastModifiedBy>
  <cp:revision>2</cp:revision>
  <dcterms:created xsi:type="dcterms:W3CDTF">2013-01-27T09:14:16Z</dcterms:created>
  <dcterms:modified xsi:type="dcterms:W3CDTF">2026-02-01T14:18:10Z</dcterms:modified>
  <cp:category/>
</cp:coreProperties>
</file>